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9cae4573a24c3e" /><Relationship Type="http://schemas.openxmlformats.org/officeDocument/2006/relationships/extended-properties" Target="/docProps/app.xml" Id="R75516c04012944f7" /><Relationship Type="http://schemas.openxmlformats.org/officeDocument/2006/relationships/officeDocument" Target="/ppt/presentation.xml" Id="R29df9869ab0d4850" /></Relationships>
</file>

<file path=ppt/presentation.xml><?xml version="1.0" encoding="utf-8"?>
<p:presentation xmlns:p="http://schemas.openxmlformats.org/presentationml/2006/main">
  <p:sldMasterIdLst>
    <p:sldMasterId xmlns:r="http://schemas.openxmlformats.org/officeDocument/2006/relationships" id="2147483648" r:id="R801996424bd44624"/>
  </p:sldMasterIdLst>
  <p:notesMasterIdLst>
    <p:notesMasterId xmlns:r="http://schemas.openxmlformats.org/officeDocument/2006/relationships" r:id="R1c64665ee7334346"/>
  </p:notesMasterIdLst>
  <p:sldIdLst>
    <p:sldId xmlns:r="http://schemas.openxmlformats.org/officeDocument/2006/relationships" id="256" r:id="R937c98f7a7664fa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e76c820f4b4b71" /><Relationship Type="http://schemas.openxmlformats.org/officeDocument/2006/relationships/slideMaster" Target="/ppt/slideMasters/slideMaster1.xml" Id="R801996424bd44624" /><Relationship Type="http://schemas.openxmlformats.org/officeDocument/2006/relationships/notesMaster" Target="/ppt/notesMasters/notesMaster1.xml" Id="R1c64665ee7334346" /><Relationship Type="http://schemas.openxmlformats.org/officeDocument/2006/relationships/presProps" Target="/ppt/presProps.xml" Id="R9b2024c7690b467e" /><Relationship Type="http://schemas.openxmlformats.org/officeDocument/2006/relationships/tableStyles" Target="/ppt/tableStyles.xml" Id="Rccc893054f4a4c92" /><Relationship Type="http://schemas.openxmlformats.org/officeDocument/2006/relationships/slide" Target="/ppt/slides/slide1.xml" Id="R937c98f7a7664f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ca423f73a746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1fc9c986c74cb1" /><Relationship Type="http://schemas.openxmlformats.org/officeDocument/2006/relationships/notesMaster" Target="/ppt/notesMasters/notesMaster1.xml" Id="Rb6a03919185a49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bảng phiếu mượn và DanhMucSach trong đề bài. Có 4 phiếu, mỗi phiếu tương ứng một sách: Đang mượn 2, Quá hạn 1, Đã trả 1. Cả bốn record được giữ lại sau chuẩn hóa. Ba mã có tên sách; S099 chưa có trong danh mục, được hiển thị bằng IFERROR là Không tìm thấy sách. Chọn biểu đồ Bar vì cần so sánh số lượng giữa ba nhóm tình trạng; không có chuỗi thời gian để dùng Line. Một slide chỉ tập trung vào kết quả chuẩn hóa và vấn đề còn cần đối soát. Slide này là 1/10 slide của bộ báo cáo dự kiến (10%); trình bày 1,5 phút trong tổng thời lượng dự kiến 18 phút, dưới 20 phút. Toàn bộ chữ trên slide đặt từ 30 pt trở lên, tuân thủ Rule 10/20/30. Thông điệp trình bày: dữ liệu đã có cấu trúc để lọc và tra cứu, nhưng cần xử lý mã S099 trước khi đưa vào hệ thống.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add5fe67594b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f6236ae4a34e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aba9667bac4d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b60303e47840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543d40daec43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3422d5c51e41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296BBF-4B3E-4D85-AC9C-927C89CFC30C}"/>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BF65E1-71CB-42EA-8E1D-27CDDF87C6C2}"/>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C14B48-205C-414E-B7A0-44BDB1F1413A}"/>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59123E-8267-4D0E-8D4D-9C2D48516AB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FD8F6-6B16-459A-A78B-375873EC442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5B068C9-B220-4C14-A712-C4F20B8E9DD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2BB92F-9F97-43E4-81EE-457AB7F4D60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89B80A-93A9-4485-9FCD-F579F3B8653F}"/>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9AABF5-3F78-4E7F-8F4F-9C7139C4FC9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E7E2F6-EC44-4026-997B-FF419396F04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bd0f42c94b4b08" /><Relationship Type="http://schemas.openxmlformats.org/officeDocument/2006/relationships/slideLayout" Target="/ppt/slideLayouts/slideLayout1.xml" Id="R4514cddbbe3e4d85" /><Relationship Type="http://schemas.openxmlformats.org/officeDocument/2006/relationships/slideLayout" Target="/ppt/slideLayouts/slideLayout2.xml" Id="R4dfef2efe43e45ac" /><Relationship Type="http://schemas.openxmlformats.org/officeDocument/2006/relationships/slideLayout" Target="/ppt/slideLayouts/slideLayout3.xml" Id="Rca329048a1524e4b" /><Relationship Type="http://schemas.openxmlformats.org/officeDocument/2006/relationships/slideLayout" Target="/ppt/slideLayouts/slideLayout4.xml" Id="R9927a7a1abad4142" /><Relationship Type="http://schemas.openxmlformats.org/officeDocument/2006/relationships/slideLayout" Target="/ppt/slideLayouts/slideLayout5.xml" Id="R7dedfc47559a440f" /><Relationship Type="http://schemas.openxmlformats.org/officeDocument/2006/relationships/slideLayout" Target="/ppt/slideLayouts/slideLayout6.xml" Id="Rbe6765deb64849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14cddbbe3e4d85"/>
    <p:sldLayoutId xmlns:r="http://schemas.openxmlformats.org/officeDocument/2006/relationships" id="2147483650" r:id="R4dfef2efe43e45ac"/>
    <p:sldLayoutId xmlns:r="http://schemas.openxmlformats.org/officeDocument/2006/relationships" id="2147483651" r:id="Rca329048a1524e4b"/>
    <p:sldLayoutId xmlns:r="http://schemas.openxmlformats.org/officeDocument/2006/relationships" id="2147483652" r:id="R9927a7a1abad4142"/>
    <p:sldLayoutId xmlns:r="http://schemas.openxmlformats.org/officeDocument/2006/relationships" id="2147483653" r:id="R7dedfc47559a440f"/>
    <p:sldLayoutId xmlns:r="http://schemas.openxmlformats.org/officeDocument/2006/relationships" id="2147483654" r:id="Rbe6765deb64849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39efe901cab436f" /><Relationship Type="http://schemas.openxmlformats.org/officeDocument/2006/relationships/chart" Target="/ppt/slides/charts/chart1.xml" Id="Rdb507359fe77400f" /><Relationship Type="http://schemas.openxmlformats.org/officeDocument/2006/relationships/notesSlide" Target="/ppt/notesSlides/notesSlide1.xml" Id="R77ffa6b4984443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3000" b="1">
                <a:solidFill>
                  <a:srgbClr val="172B3A"/>
                </a:solidFill>
                <a:latin typeface="Arial"/>
                <a:ea typeface="Arial"/>
                <a:cs typeface="Arial"/>
              </a:rPr>
              <a:t>Phiếu mượn theo tình trạng</a:t>
            </a:r>
          </a:p>
        </c:rich>
      </c:tx>
      <c:overlay val="0"/>
      <c:txPr>
        <a:bodyPr xmlns:a="http://schemas.openxmlformats.org/drawingml/2006/main" anchorCtr="1"/>
        <a:lstStyle xmlns:a="http://schemas.openxmlformats.org/drawingml/2006/main"/>
        <a:p xmlns:a="http://schemas.openxmlformats.org/drawingml/2006/main">
          <a:pPr>
            <a:defRPr sz="3000" b="1">
              <a:solidFill>
                <a:srgbClr val="172B3A"/>
              </a:solidFill>
              <a:latin typeface="Arial"/>
              <a:ea typeface="Arial"/>
              <a:cs typeface="Arial"/>
            </a:defRPr>
          </a:pPr>
        </a:p>
      </c:txPr>
    </c:title>
    <c:plotArea>
      <c:barChart>
        <c:barDir val="bar"/>
        <c:grouping val="clustered"/>
        <c:varyColors val="0"/>
        <c:ser>
          <c:idx val="0"/>
          <c:order val="0"/>
          <c:tx>
            <c:v>Số phiếu</c:v>
          </c:tx>
          <c:spPr>
            <a:solidFill xmlns:a="http://schemas.openxmlformats.org/drawingml/2006/main">
              <a:srgbClr val="2B6E8B"/>
            </a:solidFill>
          </c:spPr>
          <c:invertIfNegative val="0"/>
          <c:cat>
            <c:strRef>
              <c:f>'Chart Data'!$A$2:$A$4</c:f>
              <c:strCache>
                <c:ptCount val="3"/>
                <c:pt idx="0">
                  <c:v>Đang mượn</c:v>
                </c:pt>
                <c:pt idx="1">
                  <c:v>Quá hạn</c:v>
                </c:pt>
                <c:pt idx="2">
                  <c:v>Đã trả</c:v>
                </c:pt>
              </c:strCache>
            </c:strRef>
          </c:cat>
          <c:val>
            <c:numRef>
              <c:f>'Chart Data'!$B$2:$B$4</c:f>
              <c:numCache>
                <c:formatCode>0</c:formatCode>
                <c:ptCount val="3"/>
                <c:pt idx="0">
                  <c:v>2</c:v>
                </c:pt>
                <c:pt idx="1">
                  <c:v>1</c:v>
                </c:pt>
                <c:pt idx="2">
                  <c:v>1</c:v>
                </c:pt>
              </c:numCache>
            </c:numRef>
          </c:val>
        </c:ser>
        <c:dLbls>
          <c:txPr>
            <a:bodyPr xmlns:a="http://schemas.openxmlformats.org/drawingml/2006/main" anchorCtr="1"/>
            <a:lstStyle xmlns:a="http://schemas.openxmlformats.org/drawingml/2006/main"/>
            <a:p xmlns:a="http://schemas.openxmlformats.org/drawingml/2006/main">
              <a:pPr>
                <a:defRPr sz="3300" b="1">
                  <a:solidFill>
                    <a:srgbClr val="172B3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3000">
                <a:solidFill>
                  <a:srgbClr val="172B3A"/>
                </a:solidFill>
                <a:latin typeface="Arial"/>
                <a:ea typeface="Arial"/>
                <a:cs typeface="Arial"/>
              </a:defRPr>
            </a:pPr>
          </a:p>
        </c:txPr>
        <c:crossAx val="48672768"/>
      </c:catAx>
      <c:valAx>
        <c:axId val="48672768"/>
        <c:scaling>
          <c:orientation val="minMax"/>
          <c:max val="3"/>
          <c:min val="0"/>
        </c:scaling>
        <c:delete val="1"/>
        <c:axPos val="b"/>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3000">
                <a:solidFill>
                  <a:srgbClr val="172B3A"/>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ssertion-title">
            <a:extLst xmlns:a="http://schemas.openxmlformats.org/drawingml/2006/main">
              <a:ext uri="{FF2B5EF4-FFF2-40B4-BE49-F238E27FC236}">
                <a16:creationId xmlns:a16="http://schemas.microsoft.com/office/drawing/2014/main" id="{3F29710F-BFC6-4340-A305-5D14B80E7F36}"/>
              </a:ext>
            </a:extLst>
          </p:cNvPr>
          <p:cNvSpPr>
            <a:spLocks xmlns:a="http://schemas.openxmlformats.org/drawingml/2006/main" noGrp="1"/>
          </p:cNvSpPr>
          <p:nvPr/>
        </p:nvSpPr>
        <p:spPr>
          <a:xfrm xmlns:a="http://schemas.openxmlformats.org/drawingml/2006/main">
            <a:off x="666750" y="523875"/>
            <a:ext cx="13906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500" b="1">
                <a:solidFill>
                  <a:srgbClr val="172B3A"/>
                </a:solidFill>
                <a:latin typeface="Arial"/>
                <a:ea typeface="Arial"/>
                <a:cs typeface="Arial"/>
              </a:defRPr>
            </a:defPPr>
            <a:lvl1pPr>
              <a:defRPr sz="4500" b="1">
                <a:solidFill>
                  <a:srgbClr val="172B3A"/>
                </a:solidFill>
                <a:latin typeface="Arial"/>
                <a:ea typeface="Arial"/>
                <a:cs typeface="Arial"/>
              </a:defRPr>
            </a:lvl1pPr>
            <a:lvl2pPr>
              <a:defRPr sz="4500" b="1">
                <a:solidFill>
                  <a:srgbClr val="172B3A"/>
                </a:solidFill>
                <a:latin typeface="Arial"/>
                <a:ea typeface="Arial"/>
                <a:cs typeface="Arial"/>
              </a:defRPr>
            </a:lvl2pPr>
            <a:lvl3pPr>
              <a:defRPr sz="4500" b="1">
                <a:solidFill>
                  <a:srgbClr val="172B3A"/>
                </a:solidFill>
                <a:latin typeface="Arial"/>
                <a:ea typeface="Arial"/>
                <a:cs typeface="Arial"/>
              </a:defRPr>
            </a:lvl3pPr>
            <a:lvl4pPr>
              <a:defRPr sz="4500" b="1">
                <a:solidFill>
                  <a:srgbClr val="172B3A"/>
                </a:solidFill>
                <a:latin typeface="Arial"/>
                <a:ea typeface="Arial"/>
                <a:cs typeface="Arial"/>
              </a:defRPr>
            </a:lvl4pPr>
            <a:lvl5pPr>
              <a:defRPr sz="4500" b="1">
                <a:solidFill>
                  <a:srgbClr val="172B3A"/>
                </a:solidFill>
                <a:latin typeface="Arial"/>
                <a:ea typeface="Arial"/>
                <a:cs typeface="Arial"/>
              </a:defRPr>
            </a:lvl5pPr>
            <a:lvl6pPr>
              <a:defRPr sz="4500" b="1">
                <a:solidFill>
                  <a:srgbClr val="172B3A"/>
                </a:solidFill>
                <a:latin typeface="Arial"/>
                <a:ea typeface="Arial"/>
                <a:cs typeface="Arial"/>
              </a:defRPr>
            </a:lvl6pPr>
            <a:lvl7pPr>
              <a:defRPr sz="4500" b="1">
                <a:solidFill>
                  <a:srgbClr val="172B3A"/>
                </a:solidFill>
                <a:latin typeface="Arial"/>
                <a:ea typeface="Arial"/>
                <a:cs typeface="Arial"/>
              </a:defRPr>
            </a:lvl7pPr>
            <a:lvl8pPr>
              <a:defRPr sz="4500" b="1">
                <a:solidFill>
                  <a:srgbClr val="172B3A"/>
                </a:solidFill>
                <a:latin typeface="Arial"/>
                <a:ea typeface="Arial"/>
                <a:cs typeface="Arial"/>
              </a:defRPr>
            </a:lvl8pPr>
            <a:lvl9pPr>
              <a:defRPr sz="4500" b="1">
                <a:solidFill>
                  <a:srgbClr val="172B3A"/>
                </a:solidFill>
                <a:latin typeface="Arial"/>
                <a:ea typeface="Arial"/>
                <a:cs typeface="Arial"/>
              </a:defRPr>
            </a:lvl9pPr>
          </a:lstStyle>
          <a:p xmlns:a="http://schemas.openxmlformats.org/drawingml/2006/main">
            <a:pPr>
              <a:defRPr sz="4500" b="1">
                <a:solidFill>
                  <a:srgbClr val="172B3A"/>
                </a:solidFill>
                <a:latin typeface="Arial"/>
                <a:ea typeface="Arial"/>
                <a:cs typeface="Arial"/>
              </a:defRPr>
            </a:pPr>
            <a:r>
              <a:rPr sz="4500" b="1">
                <a:solidFill>
                  <a:srgbClr val="172B3A"/>
                </a:solidFill>
                <a:latin typeface="Arial"/>
                <a:ea typeface="Arial"/>
                <a:cs typeface="Arial"/>
              </a:rPr>
              <a:t>4 phiếu đã chuẩn hóa,</a:t>
            </a:r>
          </a:p>
          <a:p xmlns:a="http://schemas.openxmlformats.org/drawingml/2006/main">
            <a:pPr>
              <a:defRPr sz="4500" b="1">
                <a:solidFill>
                  <a:srgbClr val="172B3A"/>
                </a:solidFill>
                <a:latin typeface="Arial"/>
                <a:ea typeface="Arial"/>
                <a:cs typeface="Arial"/>
              </a:defRPr>
            </a:pPr>
            <a:r>
              <a:rPr sz="4500" b="1">
                <a:solidFill>
                  <a:srgbClr val="172B3A"/>
                </a:solidFill>
                <a:latin typeface="Arial"/>
                <a:ea typeface="Arial"/>
                <a:cs typeface="Arial"/>
              </a:rPr>
              <a:t>1 mã sách cần đối soát</a:t>
            </a:r>
          </a:p>
        </p:txBody>
      </p:sp>
      <p:sp>
        <p:nvSpPr>
          <p:cNvPr id="2" name="lookup-count">
            <a:extLst xmlns:a="http://schemas.openxmlformats.org/drawingml/2006/main">
              <a:ext uri="{FF2B5EF4-FFF2-40B4-BE49-F238E27FC236}">
                <a16:creationId xmlns:a16="http://schemas.microsoft.com/office/drawing/2014/main" id="{4A7A3EEC-1617-435F-BCC2-E2DF81C015A5}"/>
              </a:ext>
            </a:extLst>
          </p:cNvPr>
          <p:cNvSpPr>
            <a:spLocks xmlns:a="http://schemas.openxmlformats.org/drawingml/2006/main" noGrp="1"/>
          </p:cNvSpPr>
          <p:nvPr/>
        </p:nvSpPr>
        <p:spPr>
          <a:xfrm xmlns:a="http://schemas.openxmlformats.org/drawingml/2006/main">
            <a:off x="666750" y="2667000"/>
            <a:ext cx="409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0" b="1">
                <a:solidFill>
                  <a:srgbClr val="1F6281"/>
                </a:solidFill>
                <a:latin typeface="Arial"/>
                <a:ea typeface="Arial"/>
                <a:cs typeface="Arial"/>
              </a:defRPr>
            </a:defPPr>
            <a:lvl1pPr>
              <a:defRPr sz="10500" b="1">
                <a:solidFill>
                  <a:srgbClr val="1F6281"/>
                </a:solidFill>
                <a:latin typeface="Arial"/>
                <a:ea typeface="Arial"/>
                <a:cs typeface="Arial"/>
              </a:defRPr>
            </a:lvl1pPr>
            <a:lvl2pPr>
              <a:defRPr sz="10500" b="1">
                <a:solidFill>
                  <a:srgbClr val="1F6281"/>
                </a:solidFill>
                <a:latin typeface="Arial"/>
                <a:ea typeface="Arial"/>
                <a:cs typeface="Arial"/>
              </a:defRPr>
            </a:lvl2pPr>
            <a:lvl3pPr>
              <a:defRPr sz="10500" b="1">
                <a:solidFill>
                  <a:srgbClr val="1F6281"/>
                </a:solidFill>
                <a:latin typeface="Arial"/>
                <a:ea typeface="Arial"/>
                <a:cs typeface="Arial"/>
              </a:defRPr>
            </a:lvl3pPr>
            <a:lvl4pPr>
              <a:defRPr sz="10500" b="1">
                <a:solidFill>
                  <a:srgbClr val="1F6281"/>
                </a:solidFill>
                <a:latin typeface="Arial"/>
                <a:ea typeface="Arial"/>
                <a:cs typeface="Arial"/>
              </a:defRPr>
            </a:lvl4pPr>
            <a:lvl5pPr>
              <a:defRPr sz="10500" b="1">
                <a:solidFill>
                  <a:srgbClr val="1F6281"/>
                </a:solidFill>
                <a:latin typeface="Arial"/>
                <a:ea typeface="Arial"/>
                <a:cs typeface="Arial"/>
              </a:defRPr>
            </a:lvl5pPr>
            <a:lvl6pPr>
              <a:defRPr sz="10500" b="1">
                <a:solidFill>
                  <a:srgbClr val="1F6281"/>
                </a:solidFill>
                <a:latin typeface="Arial"/>
                <a:ea typeface="Arial"/>
                <a:cs typeface="Arial"/>
              </a:defRPr>
            </a:lvl6pPr>
            <a:lvl7pPr>
              <a:defRPr sz="10500" b="1">
                <a:solidFill>
                  <a:srgbClr val="1F6281"/>
                </a:solidFill>
                <a:latin typeface="Arial"/>
                <a:ea typeface="Arial"/>
                <a:cs typeface="Arial"/>
              </a:defRPr>
            </a:lvl7pPr>
            <a:lvl8pPr>
              <a:defRPr sz="10500" b="1">
                <a:solidFill>
                  <a:srgbClr val="1F6281"/>
                </a:solidFill>
                <a:latin typeface="Arial"/>
                <a:ea typeface="Arial"/>
                <a:cs typeface="Arial"/>
              </a:defRPr>
            </a:lvl8pPr>
            <a:lvl9pPr>
              <a:defRPr sz="10500" b="1">
                <a:solidFill>
                  <a:srgbClr val="1F6281"/>
                </a:solidFill>
                <a:latin typeface="Arial"/>
                <a:ea typeface="Arial"/>
                <a:cs typeface="Arial"/>
              </a:defRPr>
            </a:lvl9pPr>
          </a:lstStyle>
          <a:p xmlns:a="http://schemas.openxmlformats.org/drawingml/2006/main">
            <a:pPr>
              <a:defRPr sz="10500" b="1">
                <a:solidFill>
                  <a:srgbClr val="1F6281"/>
                </a:solidFill>
                <a:latin typeface="Arial"/>
                <a:ea typeface="Arial"/>
                <a:cs typeface="Arial"/>
              </a:defRPr>
            </a:pPr>
            <a:r>
              <a:rPr sz="10500" b="1">
                <a:solidFill>
                  <a:srgbClr val="1F6281"/>
                </a:solidFill>
                <a:latin typeface="Arial"/>
                <a:ea typeface="Arial"/>
                <a:cs typeface="Arial"/>
              </a:rPr>
              <a:t>3/4</a:t>
            </a:r>
          </a:p>
        </p:txBody>
      </p:sp>
      <p:sp>
        <p:nvSpPr>
          <p:cNvPr id="3" name="lookup-label">
            <a:extLst xmlns:a="http://schemas.openxmlformats.org/drawingml/2006/main">
              <a:ext uri="{FF2B5EF4-FFF2-40B4-BE49-F238E27FC236}">
                <a16:creationId xmlns:a16="http://schemas.microsoft.com/office/drawing/2014/main" id="{0B928448-B081-49F2-A311-4436DD6E0ED4}"/>
              </a:ext>
            </a:extLst>
          </p:cNvPr>
          <p:cNvSpPr>
            <a:spLocks xmlns:a="http://schemas.openxmlformats.org/drawingml/2006/main" noGrp="1"/>
          </p:cNvSpPr>
          <p:nvPr/>
        </p:nvSpPr>
        <p:spPr>
          <a:xfrm xmlns:a="http://schemas.openxmlformats.org/drawingml/2006/main">
            <a:off x="714375" y="4238625"/>
            <a:ext cx="4286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600" b="0">
                <a:solidFill>
                  <a:srgbClr val="172B3A"/>
                </a:solidFill>
                <a:latin typeface="Arial"/>
                <a:ea typeface="Arial"/>
                <a:cs typeface="Arial"/>
              </a:defRPr>
            </a:defPPr>
            <a:lvl1pPr>
              <a:defRPr sz="3600" b="0">
                <a:solidFill>
                  <a:srgbClr val="172B3A"/>
                </a:solidFill>
                <a:latin typeface="Arial"/>
                <a:ea typeface="Arial"/>
                <a:cs typeface="Arial"/>
              </a:defRPr>
            </a:lvl1pPr>
            <a:lvl2pPr>
              <a:defRPr sz="3600" b="0">
                <a:solidFill>
                  <a:srgbClr val="172B3A"/>
                </a:solidFill>
                <a:latin typeface="Arial"/>
                <a:ea typeface="Arial"/>
                <a:cs typeface="Arial"/>
              </a:defRPr>
            </a:lvl2pPr>
            <a:lvl3pPr>
              <a:defRPr sz="3600" b="0">
                <a:solidFill>
                  <a:srgbClr val="172B3A"/>
                </a:solidFill>
                <a:latin typeface="Arial"/>
                <a:ea typeface="Arial"/>
                <a:cs typeface="Arial"/>
              </a:defRPr>
            </a:lvl3pPr>
            <a:lvl4pPr>
              <a:defRPr sz="3600" b="0">
                <a:solidFill>
                  <a:srgbClr val="172B3A"/>
                </a:solidFill>
                <a:latin typeface="Arial"/>
                <a:ea typeface="Arial"/>
                <a:cs typeface="Arial"/>
              </a:defRPr>
            </a:lvl4pPr>
            <a:lvl5pPr>
              <a:defRPr sz="3600" b="0">
                <a:solidFill>
                  <a:srgbClr val="172B3A"/>
                </a:solidFill>
                <a:latin typeface="Arial"/>
                <a:ea typeface="Arial"/>
                <a:cs typeface="Arial"/>
              </a:defRPr>
            </a:lvl5pPr>
            <a:lvl6pPr>
              <a:defRPr sz="3600" b="0">
                <a:solidFill>
                  <a:srgbClr val="172B3A"/>
                </a:solidFill>
                <a:latin typeface="Arial"/>
                <a:ea typeface="Arial"/>
                <a:cs typeface="Arial"/>
              </a:defRPr>
            </a:lvl6pPr>
            <a:lvl7pPr>
              <a:defRPr sz="3600" b="0">
                <a:solidFill>
                  <a:srgbClr val="172B3A"/>
                </a:solidFill>
                <a:latin typeface="Arial"/>
                <a:ea typeface="Arial"/>
                <a:cs typeface="Arial"/>
              </a:defRPr>
            </a:lvl7pPr>
            <a:lvl8pPr>
              <a:defRPr sz="3600" b="0">
                <a:solidFill>
                  <a:srgbClr val="172B3A"/>
                </a:solidFill>
                <a:latin typeface="Arial"/>
                <a:ea typeface="Arial"/>
                <a:cs typeface="Arial"/>
              </a:defRPr>
            </a:lvl8pPr>
            <a:lvl9pPr>
              <a:defRPr sz="3600" b="0">
                <a:solidFill>
                  <a:srgbClr val="172B3A"/>
                </a:solidFill>
                <a:latin typeface="Arial"/>
                <a:ea typeface="Arial"/>
                <a:cs typeface="Arial"/>
              </a:defRPr>
            </a:lvl9pPr>
          </a:lstStyle>
          <a:p xmlns:a="http://schemas.openxmlformats.org/drawingml/2006/main">
            <a:pPr>
              <a:defRPr sz="3600" b="0">
                <a:solidFill>
                  <a:srgbClr val="172B3A"/>
                </a:solidFill>
                <a:latin typeface="Arial"/>
                <a:ea typeface="Arial"/>
                <a:cs typeface="Arial"/>
              </a:defRPr>
            </a:pPr>
            <a:r>
              <a:rPr sz="3600" b="0">
                <a:solidFill>
                  <a:srgbClr val="172B3A"/>
                </a:solidFill>
                <a:latin typeface="Arial"/>
                <a:ea typeface="Arial"/>
                <a:cs typeface="Arial"/>
              </a:rPr>
              <a:t>mã sách đã</a:t>
            </a:r>
          </a:p>
          <a:p xmlns:a="http://schemas.openxmlformats.org/drawingml/2006/main">
            <a:pPr>
              <a:defRPr sz="3600" b="0">
                <a:solidFill>
                  <a:srgbClr val="172B3A"/>
                </a:solidFill>
                <a:latin typeface="Arial"/>
                <a:ea typeface="Arial"/>
                <a:cs typeface="Arial"/>
              </a:defRPr>
            </a:pPr>
            <a:r>
              <a:rPr sz="3600" b="0">
                <a:solidFill>
                  <a:srgbClr val="172B3A"/>
                </a:solidFill>
                <a:latin typeface="Arial"/>
                <a:ea typeface="Arial"/>
                <a:cs typeface="Arial"/>
              </a:rPr>
              <a:t>tra cứu được</a:t>
            </a:r>
          </a:p>
        </p:txBody>
      </p:sp>
      <p:sp>
        <p:nvSpPr>
          <p:cNvPr id="4" name="action">
            <a:extLst xmlns:a="http://schemas.openxmlformats.org/drawingml/2006/main">
              <a:ext uri="{FF2B5EF4-FFF2-40B4-BE49-F238E27FC236}">
                <a16:creationId xmlns:a16="http://schemas.microsoft.com/office/drawing/2014/main" id="{14C6AEC5-1C22-47F0-983E-B0429AD9F3F4}"/>
              </a:ext>
            </a:extLst>
          </p:cNvPr>
          <p:cNvSpPr>
            <a:spLocks xmlns:a="http://schemas.openxmlformats.org/drawingml/2006/main" noGrp="1"/>
          </p:cNvSpPr>
          <p:nvPr/>
        </p:nvSpPr>
        <p:spPr>
          <a:xfrm xmlns:a="http://schemas.openxmlformats.org/drawingml/2006/main">
            <a:off x="666750" y="7286625"/>
            <a:ext cx="13906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300" b="1">
                <a:solidFill>
                  <a:srgbClr val="A04A1B"/>
                </a:solidFill>
                <a:latin typeface="Arial"/>
                <a:ea typeface="Arial"/>
                <a:cs typeface="Arial"/>
              </a:defRPr>
            </a:defPPr>
            <a:lvl1pPr>
              <a:defRPr sz="3300" b="1">
                <a:solidFill>
                  <a:srgbClr val="A04A1B"/>
                </a:solidFill>
                <a:latin typeface="Arial"/>
                <a:ea typeface="Arial"/>
                <a:cs typeface="Arial"/>
              </a:defRPr>
            </a:lvl1pPr>
            <a:lvl2pPr>
              <a:defRPr sz="3300" b="1">
                <a:solidFill>
                  <a:srgbClr val="A04A1B"/>
                </a:solidFill>
                <a:latin typeface="Arial"/>
                <a:ea typeface="Arial"/>
                <a:cs typeface="Arial"/>
              </a:defRPr>
            </a:lvl2pPr>
            <a:lvl3pPr>
              <a:defRPr sz="3300" b="1">
                <a:solidFill>
                  <a:srgbClr val="A04A1B"/>
                </a:solidFill>
                <a:latin typeface="Arial"/>
                <a:ea typeface="Arial"/>
                <a:cs typeface="Arial"/>
              </a:defRPr>
            </a:lvl3pPr>
            <a:lvl4pPr>
              <a:defRPr sz="3300" b="1">
                <a:solidFill>
                  <a:srgbClr val="A04A1B"/>
                </a:solidFill>
                <a:latin typeface="Arial"/>
                <a:ea typeface="Arial"/>
                <a:cs typeface="Arial"/>
              </a:defRPr>
            </a:lvl4pPr>
            <a:lvl5pPr>
              <a:defRPr sz="3300" b="1">
                <a:solidFill>
                  <a:srgbClr val="A04A1B"/>
                </a:solidFill>
                <a:latin typeface="Arial"/>
                <a:ea typeface="Arial"/>
                <a:cs typeface="Arial"/>
              </a:defRPr>
            </a:lvl5pPr>
            <a:lvl6pPr>
              <a:defRPr sz="3300" b="1">
                <a:solidFill>
                  <a:srgbClr val="A04A1B"/>
                </a:solidFill>
                <a:latin typeface="Arial"/>
                <a:ea typeface="Arial"/>
                <a:cs typeface="Arial"/>
              </a:defRPr>
            </a:lvl6pPr>
            <a:lvl7pPr>
              <a:defRPr sz="3300" b="1">
                <a:solidFill>
                  <a:srgbClr val="A04A1B"/>
                </a:solidFill>
                <a:latin typeface="Arial"/>
                <a:ea typeface="Arial"/>
                <a:cs typeface="Arial"/>
              </a:defRPr>
            </a:lvl7pPr>
            <a:lvl8pPr>
              <a:defRPr sz="3300" b="1">
                <a:solidFill>
                  <a:srgbClr val="A04A1B"/>
                </a:solidFill>
                <a:latin typeface="Arial"/>
                <a:ea typeface="Arial"/>
                <a:cs typeface="Arial"/>
              </a:defRPr>
            </a:lvl8pPr>
            <a:lvl9pPr>
              <a:defRPr sz="3300" b="1">
                <a:solidFill>
                  <a:srgbClr val="A04A1B"/>
                </a:solidFill>
                <a:latin typeface="Arial"/>
                <a:ea typeface="Arial"/>
                <a:cs typeface="Arial"/>
              </a:defRPr>
            </a:lvl9pPr>
          </a:lstStyle>
          <a:p xmlns:a="http://schemas.openxmlformats.org/drawingml/2006/main">
            <a:pPr>
              <a:defRPr sz="3300" b="1">
                <a:solidFill>
                  <a:srgbClr val="A04A1B"/>
                </a:solidFill>
                <a:latin typeface="Arial"/>
                <a:ea typeface="Arial"/>
                <a:cs typeface="Arial"/>
              </a:defRPr>
            </a:pPr>
            <a:r>
              <a:rPr sz="3300" b="1">
                <a:solidFill>
                  <a:srgbClr val="A04A1B"/>
                </a:solidFill>
                <a:latin typeface="Arial"/>
                <a:ea typeface="Arial"/>
                <a:cs typeface="Arial"/>
              </a:rPr>
              <a:t>Cần bổ sung hoặc sửa mã S099</a:t>
            </a:r>
          </a:p>
        </p:txBody>
      </p:sp>
      <p:graphicFrame>
        <p:nvGraphicFramePr>
          <p:cNvPr id="5" name="Chart">
            <a:extLst xmlns:a="http://schemas.openxmlformats.org/drawingml/2006/main">
              <a:ext uri="{FF2B5EF4-FFF2-40B4-BE49-F238E27FC236}">
                <a16:creationId xmlns:a16="http://schemas.microsoft.com/office/drawing/2014/main" id="{2C26518B-E307-4D95-86BB-56C6CBA238AA}"/>
              </a:ext>
            </a:extLst>
          </p:cNvPr>
          <p:cNvGraphicFramePr/>
          <p:nvPr/>
        </p:nvGraphicFramePr>
        <p:xfrm>
          <a:off xmlns:a="http://schemas.openxmlformats.org/drawingml/2006/main" x="5810250" y="2524125"/>
          <a:ext xmlns:a="http://schemas.openxmlformats.org/drawingml/2006/main" cx="8572500" cy="4191000"/>
        </p:xfrm>
        <a:graphic xmlns:a="http://schemas.openxmlformats.org/drawingml/2006/main">
          <a:graphicData uri="http://schemas.openxmlformats.org/drawingml/2006/chart">
            <c:chart xmlns:r="http://schemas.openxmlformats.org/officeDocument/2006/relationships" xmlns:c="http://schemas.openxmlformats.org/drawingml/2006/chart" r:id="Rdb507359fe77400f"/>
          </a:graphicData>
        </a:graphic>
      </p:graphicFrame>
    </p:spTree>
    <p:extLst>
      <p:ext uri="{BB962C8B-B14F-4D97-AF65-F5344CB8AC3E}">
        <p14:creationId xmlns:p14="http://schemas.microsoft.com/office/powerpoint/2010/main" val="6548058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2026-10-21T10:35:12.5710000Z</dcterms:created>
  <dcterms:modified xsi:type="dcterms:W3CDTF">2026-10-21T10:35:12.5710000Z</dcterms:modified>
</coreProperties>
</file>